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27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27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27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27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27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8/27/2026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27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139493981"/>
              </p:ext>
            </p:extLst>
          </p:nvPr>
        </p:nvGraphicFramePr>
        <p:xfrm>
          <a:off x="8193271" y="4898509"/>
          <a:ext cx="3702050" cy="106680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Hansini – 2420030239</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G Sreevarsha – 2420030241</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Mani Charan Chava - 2420030545</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920506269"/>
              </p:ext>
            </p:extLst>
          </p:nvPr>
        </p:nvGraphicFramePr>
        <p:xfrm>
          <a:off x="-795813" y="4774125"/>
          <a:ext cx="5902325" cy="1332118"/>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Dr.Venkateswari Ketineni</a:t>
                      </a: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Date</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693212" y="802743"/>
            <a:ext cx="10289477" cy="1077218"/>
          </a:xfrm>
          <a:prstGeom prst="rect">
            <a:avLst/>
          </a:prstGeom>
          <a:noFill/>
        </p:spPr>
        <p:txBody>
          <a:bodyPr wrap="square">
            <a:spAutoFit/>
          </a:bodyPr>
          <a:lstStyle/>
          <a:p>
            <a:pPr lvl="0" algn="ctr">
              <a:defRPr/>
            </a:pPr>
            <a:r>
              <a:rPr lang="en-US" sz="3200" dirty="0">
                <a:solidFill>
                  <a:schemeClr val="bg1"/>
                </a:solidFill>
                <a:latin typeface="Javanese Text" panose="02000000000000000000" pitchFamily="2" charset="0"/>
                <a:cs typeface="Poppins" pitchFamily="2" charset="77"/>
              </a:rPr>
              <a:t>AI-Powered Mutual Fund Portfolio Analysis &amp; Investment Tracking System</a:t>
            </a:r>
            <a:endParaRPr kumimoji="0" lang="en-US" sz="3200" b="0" i="0" u="none" strike="noStrike" kern="1200" cap="none" spc="0" normalizeH="0" baseline="0" noProof="0" dirty="0">
              <a:ln>
                <a:noFill/>
              </a:ln>
              <a:solidFill>
                <a:schemeClr val="bg1"/>
              </a:solidFill>
              <a:effectLst/>
              <a:uLnTx/>
              <a:uFillTx/>
              <a:latin typeface="Javanese Text" panose="02000000000000000000" pitchFamily="2" charset="0"/>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AEA15BB-819D-AAF4-A0EA-4E2A15818D85}"/>
              </a:ext>
            </a:extLst>
          </p:cNvPr>
          <p:cNvSpPr txBox="1"/>
          <p:nvPr/>
        </p:nvSpPr>
        <p:spPr>
          <a:xfrm>
            <a:off x="5129784" y="1984248"/>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8EA18921-4273-9216-5724-9DBCA08B6215}"/>
              </a:ext>
            </a:extLst>
          </p:cNvPr>
          <p:cNvSpPr txBox="1"/>
          <p:nvPr/>
        </p:nvSpPr>
        <p:spPr>
          <a:xfrm>
            <a:off x="1450848" y="1624275"/>
            <a:ext cx="9290304" cy="2923877"/>
          </a:xfrm>
          <a:prstGeom prst="rect">
            <a:avLst/>
          </a:prstGeom>
          <a:noFill/>
        </p:spPr>
        <p:txBody>
          <a:bodyPr wrap="square">
            <a:spAutoFit/>
          </a:bodyPr>
          <a:lstStyle/>
          <a:p>
            <a:pPr algn="just"/>
            <a:r>
              <a:rPr lang="en-US" sz="2300" dirty="0">
                <a:latin typeface="Javanese Text" panose="02000000000000000000" pitchFamily="2" charset="0"/>
              </a:rPr>
              <a:t>The AI-Powered Mutual Fund Portfolio Analysis and Investment Tracking System is designed to help users monitor and understand their mutual fund investments. The system tracks the user's investments, analyzes portfolio performance, evaluates the level of risk and diversification, and provides useful insights using historical mutual fund data and machine learning techniques. It helps users easily identify whether their portfolio is performing well and understand the risk associated with their investments.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A62493A4-A5FE-4451-C3DA-E6B3249A35C8}"/>
              </a:ext>
            </a:extLst>
          </p:cNvPr>
          <p:cNvSpPr txBox="1"/>
          <p:nvPr/>
        </p:nvSpPr>
        <p:spPr>
          <a:xfrm>
            <a:off x="448268" y="1709928"/>
            <a:ext cx="10954300" cy="4708981"/>
          </a:xfrm>
          <a:prstGeom prst="rect">
            <a:avLst/>
          </a:prstGeom>
          <a:noFill/>
        </p:spPr>
        <p:txBody>
          <a:bodyPr wrap="square" rtlCol="0">
            <a:spAutoFit/>
          </a:bodyPr>
          <a:lstStyle/>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collect and preprocess mutual fund, NAV, market, user holding, and SIP transaction data for accurate analysis.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 To extract important financial features such as returns, volatility, risk, Sharpe ratio, expense ratio, and asset allocation.</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track user investments including SIPs, buy/sell transactions, units held, current NAV, portfolio value, and profit/loss.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provide an interactive dashboard for viewing portfolio overview, returns, risk analysis, fund comparison, and historical trends.</a:t>
            </a:r>
          </a:p>
          <a:p>
            <a:pPr marL="342900" lvl="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a:p>
            <a:pPr marL="342900" lvl="0" indent="-342900">
              <a:buFont typeface="+mj-lt"/>
              <a:buAutoNum type="arabicPeriod"/>
            </a:pPr>
            <a:r>
              <a:rPr lang="en-US" sz="2000" dirty="0">
                <a:latin typeface="Javanese Text" panose="02000000000000000000" pitchFamily="2" charset="0"/>
                <a:ea typeface="Calibri" panose="020F0502020204030204" pitchFamily="34" charset="0"/>
                <a:cs typeface="Calibri" panose="020F0502020204030204" pitchFamily="34" charset="0"/>
              </a:rPr>
              <a:t>To analyze mutual fund performance and provide fund ranking and comparison based on historical data.</a:t>
            </a:r>
          </a:p>
          <a:p>
            <a:pPr marL="342900" indent="-342900">
              <a:buFont typeface="+mj-lt"/>
              <a:buAutoNum type="arabicPeriod"/>
            </a:pPr>
            <a:endParaRPr lang="en-US" sz="2000" dirty="0">
              <a:latin typeface="Javanese Text" panose="02000000000000000000" pitchFamily="2"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620053304"/>
              </p:ext>
            </p:extLst>
          </p:nvPr>
        </p:nvGraphicFramePr>
        <p:xfrm>
          <a:off x="274646" y="689466"/>
          <a:ext cx="11642705" cy="4639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US" sz="1400" dirty="0"/>
                        <a:t>S. R. Das &amp; R. K. Jain</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Mutual Fund Performance: A Synthesis of Taxonomic and Methodological Issues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Classified mutual funds and analyzed returns, fund flows, and performance using different evaluation methods.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Fund category, returns, investor flows, and risk-adjusted performance are important for portfolio evaluation.</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The study covers broad methodological issues; a practical software-based portfolio system can integrate these analyses.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US" sz="1400" dirty="0"/>
                        <a:t>Nima Vafai &amp; David Rakowski</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The Sources of Portfolio Volatility and Mutual Fund Performance</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portfolio volatility using security-level variances and covariances.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Portfolio volatility depends significantly on the relationships between securities within the portfolio.</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Analysis can be extended to different markets and practical investor portfolio applications.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US" sz="1400" dirty="0"/>
                        <a:t>S. R. S. Prasad et al.</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US" sz="1400" dirty="0"/>
                        <a:t>A Critical Analysis of Selected Mutual Funds in India</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Analyzed daily NAV data using statistical performance measures.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lang="en-US" sz="1400" dirty="0"/>
                        <a:t>Mutual funds can be evaluated by comparing their historical NAV and performance measures.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lang="en-US" sz="1400" dirty="0"/>
                        <a:t>Study focused on selected funds; future work can include more fund categories and larger datasets. </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561E609-8078-302F-D7A1-BB5E1E59D0FF}"/>
              </a:ext>
            </a:extLst>
          </p:cNvPr>
          <p:cNvSpPr txBox="1"/>
          <p:nvPr/>
        </p:nvSpPr>
        <p:spPr>
          <a:xfrm>
            <a:off x="1216152" y="1874520"/>
            <a:ext cx="6992620" cy="2462213"/>
          </a:xfrm>
          <a:prstGeom prst="rect">
            <a:avLst/>
          </a:prstGeom>
          <a:noFill/>
        </p:spPr>
        <p:txBody>
          <a:bodyPr wrap="none" rtlCol="0">
            <a:spAutoFit/>
          </a:bodyPr>
          <a:lstStyle/>
          <a:p>
            <a:pPr marL="285750" lvl="0" indent="-285750">
              <a:buFont typeface="Arial" panose="020B0604020202020204" pitchFamily="34" charset="0"/>
              <a:buChar char="•"/>
            </a:pPr>
            <a:r>
              <a:rPr lang="en-US" sz="2200" dirty="0">
                <a:latin typeface="Javanese Text" panose="02000000000000000000" pitchFamily="2" charset="0"/>
              </a:rPr>
              <a:t>Limited integrated portfolio analysis </a:t>
            </a:r>
          </a:p>
          <a:p>
            <a:pPr marL="285750" lvl="0" indent="-285750">
              <a:buFont typeface="Arial" panose="020B0604020202020204" pitchFamily="34" charset="0"/>
              <a:buChar char="•"/>
            </a:pPr>
            <a:r>
              <a:rPr lang="en-US" sz="2200" dirty="0">
                <a:latin typeface="Javanese Text" panose="02000000000000000000" pitchFamily="2" charset="0"/>
              </a:rPr>
              <a:t>Difficulty identifying underperforming funds </a:t>
            </a:r>
          </a:p>
          <a:p>
            <a:pPr marL="285750" lvl="0" indent="-285750">
              <a:buFont typeface="Arial" panose="020B0604020202020204" pitchFamily="34" charset="0"/>
              <a:buChar char="•"/>
            </a:pPr>
            <a:r>
              <a:rPr lang="en-US" sz="2200" dirty="0">
                <a:latin typeface="Javanese Text" panose="02000000000000000000" pitchFamily="2" charset="0"/>
              </a:rPr>
              <a:t>Limited risk and diversification analysis </a:t>
            </a:r>
          </a:p>
          <a:p>
            <a:pPr marL="285750" lvl="0" indent="-285750">
              <a:buFont typeface="Arial" panose="020B0604020202020204" pitchFamily="34" charset="0"/>
              <a:buChar char="•"/>
            </a:pPr>
            <a:r>
              <a:rPr lang="en-US" sz="2200" dirty="0">
                <a:latin typeface="Javanese Text" panose="02000000000000000000" pitchFamily="2" charset="0"/>
              </a:rPr>
              <a:t>Lack of benchmark-based performance comparison </a:t>
            </a:r>
          </a:p>
          <a:p>
            <a:pPr marL="285750" lvl="0" indent="-285750">
              <a:buFont typeface="Arial" panose="020B0604020202020204" pitchFamily="34" charset="0"/>
              <a:buChar char="•"/>
            </a:pPr>
            <a:r>
              <a:rPr lang="en-US" sz="2200" dirty="0">
                <a:latin typeface="Javanese Text" panose="02000000000000000000" pitchFamily="2" charset="0"/>
              </a:rPr>
              <a:t>Limited modular/scalable architecture </a:t>
            </a:r>
          </a:p>
          <a:p>
            <a:pPr marL="285750" lvl="0" indent="-285750">
              <a:buFont typeface="Arial" panose="020B0604020202020204" pitchFamily="34" charset="0"/>
              <a:buChar char="•"/>
            </a:pPr>
            <a:r>
              <a:rPr lang="en-US" sz="2200" dirty="0">
                <a:latin typeface="Javanese Text" panose="02000000000000000000" pitchFamily="2" charset="0"/>
              </a:rPr>
              <a:t>Need for centralized investment tracking and analysis</a:t>
            </a:r>
          </a:p>
          <a:p>
            <a:endParaRPr lang="en-US" sz="2200" dirty="0">
              <a:latin typeface="Javanese Text" panose="02000000000000000000" pitchFamily="2" charset="0"/>
            </a:endParaRP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E88555EF-DB34-567A-483B-19B00CD920A1}"/>
              </a:ext>
            </a:extLst>
          </p:cNvPr>
          <p:cNvSpPr txBox="1"/>
          <p:nvPr/>
        </p:nvSpPr>
        <p:spPr>
          <a:xfrm>
            <a:off x="1014984" y="2221992"/>
            <a:ext cx="9784080"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Microservices-based architecture</a:t>
            </a:r>
            <a:r>
              <a:rPr lang="en-US" dirty="0"/>
              <a:t> — separates the system into independent services such as User, Fund, Portfolio, Analysis, and Notification services.</a:t>
            </a:r>
          </a:p>
          <a:p>
            <a:endParaRPr lang="en-US" dirty="0"/>
          </a:p>
          <a:p>
            <a:pPr marL="285750" indent="-285750">
              <a:buFont typeface="Arial" panose="020B0604020202020204" pitchFamily="34" charset="0"/>
              <a:buChar char="•"/>
            </a:pPr>
            <a:r>
              <a:rPr lang="en-US" b="1" dirty="0"/>
              <a:t>Real-time portfolio insights</a:t>
            </a:r>
            <a:r>
              <a:rPr lang="en-US" dirty="0"/>
              <a:t> — provides updated portfolio value, profit/loss, NAV, and performance information.</a:t>
            </a:r>
          </a:p>
          <a:p>
            <a:endParaRPr lang="en-US" dirty="0"/>
          </a:p>
          <a:p>
            <a:pPr marL="285750" indent="-285750">
              <a:buFont typeface="Arial" panose="020B0604020202020204" pitchFamily="34" charset="0"/>
              <a:buChar char="•"/>
            </a:pPr>
            <a:r>
              <a:rPr lang="en-US" b="1" dirty="0"/>
              <a:t>API-based service communication</a:t>
            </a:r>
            <a:r>
              <a:rPr lang="en-US" dirty="0"/>
              <a:t> — services communicate through REST APIs, demonstrating SOA principles.</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1872" y="2191947"/>
            <a:ext cx="8814816" cy="3139321"/>
          </a:xfrm>
          <a:prstGeom prst="rect">
            <a:avLst/>
          </a:prstGeom>
          <a:noFill/>
        </p:spPr>
        <p:txBody>
          <a:bodyPr wrap="square" rtlCol="0">
            <a:spAutoFit/>
          </a:bodyPr>
          <a:lstStyle/>
          <a:p>
            <a:pPr marL="342900" lvl="0" indent="-342900">
              <a:buAutoNum type="arabicPeriod"/>
            </a:pPr>
            <a:r>
              <a:rPr lang="en-US" b="1" dirty="0"/>
              <a:t>Technical:</a:t>
            </a:r>
            <a:r>
              <a:rPr lang="en-US" dirty="0"/>
              <a:t> Java, Spring Boot, REST APIs, MySQL, and React are available and suitable for the project. </a:t>
            </a:r>
          </a:p>
          <a:p>
            <a:pPr marL="342900" lvl="0" indent="-342900">
              <a:buAutoNum type="arabicPeriod"/>
            </a:pPr>
            <a:endParaRPr lang="en-US" dirty="0"/>
          </a:p>
          <a:p>
            <a:pPr marL="342900" indent="-342900">
              <a:buFontTx/>
              <a:buAutoNum type="arabicPeriod"/>
            </a:pPr>
            <a:r>
              <a:rPr lang="en-US" b="1" dirty="0"/>
              <a:t>Operational:</a:t>
            </a:r>
            <a:r>
              <a:rPr lang="en-US" dirty="0"/>
              <a:t> Users can easily track investments, view portfolio performance, and analyze risk through the system.</a:t>
            </a:r>
          </a:p>
          <a:p>
            <a:pPr marL="342900" indent="-342900">
              <a:buFontTx/>
              <a:buAutoNum type="arabicPeriod"/>
            </a:pPr>
            <a:endParaRPr lang="en-US" dirty="0"/>
          </a:p>
          <a:p>
            <a:pPr marL="342900" indent="-342900">
              <a:buFontTx/>
              <a:buAutoNum type="arabicPeriod"/>
            </a:pPr>
            <a:r>
              <a:rPr lang="en-US" b="1" dirty="0"/>
              <a:t>Economic:</a:t>
            </a:r>
            <a:r>
              <a:rPr lang="en-US" dirty="0"/>
              <a:t> The project uses mostly open-source technologies and does not require specialized hardware.</a:t>
            </a:r>
          </a:p>
          <a:p>
            <a:endParaRPr lang="en-US" dirty="0">
              <a:latin typeface="Javanese Text" panose="02000000000000000000" pitchFamily="2" charset="0"/>
              <a:ea typeface="DengXian" panose="02010600030101010101" pitchFamily="2" charset="-122"/>
            </a:endParaRPr>
          </a:p>
          <a:p>
            <a:pPr lvl="0"/>
            <a:endParaRPr lang="en-US" b="1" dirty="0"/>
          </a:p>
          <a:p>
            <a:pPr marL="285750" indent="-285750">
              <a:buFont typeface="Arial" panose="020B0604020202020204" pitchFamily="34" charset="0"/>
              <a:buChar char="•"/>
            </a:pPr>
            <a:endParaRPr lang="en-US" b="1" dirty="0">
              <a:solidFill>
                <a:srgbClr val="FF0000"/>
              </a:solidFill>
            </a:endParaRP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230</TotalTime>
  <Words>613</Words>
  <Application>Microsoft Office PowerPoint</Application>
  <PresentationFormat>Widescreen</PresentationFormat>
  <Paragraphs>93</Paragraphs>
  <Slides>8</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Aptos</vt:lpstr>
      <vt:lpstr>Aptos Display</vt:lpstr>
      <vt:lpstr>Arial</vt:lpstr>
      <vt:lpstr>Calibri</vt:lpstr>
      <vt:lpstr>Calibri Light</vt:lpstr>
      <vt:lpstr>Javanese Text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Sreevarsha Reddy</cp:lastModifiedBy>
  <cp:revision>36</cp:revision>
  <dcterms:created xsi:type="dcterms:W3CDTF">2026-08-08T06:33:56Z</dcterms:created>
  <dcterms:modified xsi:type="dcterms:W3CDTF">2026-08-27T04:14:31Z</dcterms:modified>
</cp:coreProperties>
</file>